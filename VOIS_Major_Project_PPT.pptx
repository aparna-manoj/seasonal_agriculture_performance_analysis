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E96B65-D81A-4C53-B131-75C815D35D21}" v="279" dt="2026-09-05T17:22:33.00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parna manoj" userId="6ceb5fead0a4b76f" providerId="LiveId" clId="{9F420ECF-7269-4015-A11B-FD20FD2D4A2E}"/>
    <pc:docChg chg="modSld">
      <pc:chgData name="aparna manoj" userId="6ceb5fead0a4b76f" providerId="LiveId" clId="{9F420ECF-7269-4015-A11B-FD20FD2D4A2E}" dt="2026-09-05T17:32:51.818" v="2" actId="1076"/>
      <pc:docMkLst>
        <pc:docMk/>
      </pc:docMkLst>
      <pc:sldChg chg="modSp mod">
        <pc:chgData name="aparna manoj" userId="6ceb5fead0a4b76f" providerId="LiveId" clId="{9F420ECF-7269-4015-A11B-FD20FD2D4A2E}" dt="2026-09-05T17:32:51.818" v="2" actId="1076"/>
        <pc:sldMkLst>
          <pc:docMk/>
          <pc:sldMk cId="3962802212" sldId="343"/>
        </pc:sldMkLst>
        <pc:picChg chg="mod">
          <ac:chgData name="aparna manoj" userId="6ceb5fead0a4b76f" providerId="LiveId" clId="{9F420ECF-7269-4015-A11B-FD20FD2D4A2E}" dt="2026-09-05T17:32:51.818" v="2" actId="1076"/>
          <ac:picMkLst>
            <pc:docMk/>
            <pc:sldMk cId="3962802212" sldId="343"/>
            <ac:picMk id="3" creationId="{8153CD9E-4490-7EF9-EE14-2EF87C7B954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38517" y="4063998"/>
            <a:ext cx="6319157" cy="861497"/>
          </a:xfrm>
        </p:spPr>
        <p:txBody>
          <a:bodyPr vert="horz" lIns="91440" tIns="45720" rIns="91440" bIns="45720" rtlCol="0" anchor="t">
            <a:normAutofit fontScale="85000" lnSpcReduction="10000"/>
          </a:bodyPr>
          <a:lstStyle/>
          <a:p>
            <a:r>
              <a:rPr lang="en-US" b="0" dirty="0">
                <a:solidFill>
                  <a:schemeClr val="tx1"/>
                </a:solidFill>
              </a:rPr>
              <a:t>Student Name- APARNA MANOJ </a:t>
            </a:r>
          </a:p>
          <a:p>
            <a:r>
              <a:rPr lang="en-US" b="0" dirty="0">
                <a:solidFill>
                  <a:schemeClr val="tx1"/>
                </a:solidFill>
              </a:rPr>
              <a:t>College Name- </a:t>
            </a:r>
            <a:r>
              <a:rPr lang="en-IN" b="0" dirty="0">
                <a:solidFill>
                  <a:schemeClr val="tx1"/>
                </a:solidFill>
              </a:rPr>
              <a:t>Co-operative Arts &amp; Science College, Madayi</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74357" y="2998251"/>
            <a:ext cx="9037003" cy="861497"/>
          </a:xfrm>
        </p:spPr>
        <p:txBody>
          <a:bodyPr>
            <a:normAutofit/>
          </a:bodyPr>
          <a:lstStyle/>
          <a:p>
            <a:r>
              <a:rPr lang="en-IN" sz="3200" b="1" dirty="0">
                <a:latin typeface="+mj-lt"/>
              </a:rPr>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827872" y="4832591"/>
            <a:ext cx="6329802" cy="369332"/>
          </a:xfrm>
          <a:prstGeom prst="rect">
            <a:avLst/>
          </a:prstGeom>
          <a:noFill/>
        </p:spPr>
        <p:txBody>
          <a:bodyPr wrap="square" rtlCol="0">
            <a:spAutoFit/>
          </a:bodyPr>
          <a:lstStyle/>
          <a:p>
            <a:r>
              <a:rPr lang="en-US" b="1" dirty="0"/>
              <a:t>AICTE STU ID : </a:t>
            </a:r>
            <a:r>
              <a:rPr lang="en-IN" dirty="0"/>
              <a:t>STU6a3fc44be35991782563915</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55000" lnSpcReduction="20000"/>
          </a:bodyPr>
          <a:lstStyle/>
          <a:p>
            <a:pPr marL="0" indent="0">
              <a:lnSpc>
                <a:spcPct val="150000"/>
              </a:lnSpc>
              <a:buNone/>
            </a:pPr>
            <a:r>
              <a:rPr lang="en-IN" sz="2800" dirty="0"/>
              <a:t>Agricultural activities are influenced by seasonal variations in environmental conditions, farming practices, resource availability and market conditions. As a result, agricultural performance may differ from one season to another.</a:t>
            </a:r>
          </a:p>
          <a:p>
            <a:pPr marL="0" indent="0">
              <a:lnSpc>
                <a:spcPct val="150000"/>
              </a:lnSpc>
              <a:buNone/>
            </a:pPr>
            <a:r>
              <a:rPr lang="en-IN" sz="2800" dirty="0"/>
              <a:t> However, raw agricultural data does not clearly explain how agricultural performance changes across seasons or what patterns can be observed in different seasonal conditions.</a:t>
            </a:r>
          </a:p>
          <a:p>
            <a:pPr marL="0" indent="0">
              <a:lnSpc>
                <a:spcPct val="150000"/>
              </a:lnSpc>
              <a:buNone/>
            </a:pPr>
            <a:r>
              <a:rPr lang="en-IN" sz="2800" dirty="0"/>
              <a:t>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AD6947A3-1E7F-31F6-D942-60BC2EB1611E}"/>
              </a:ext>
            </a:extLst>
          </p:cNvPr>
          <p:cNvSpPr txBox="1"/>
          <p:nvPr/>
        </p:nvSpPr>
        <p:spPr>
          <a:xfrm>
            <a:off x="660399" y="2090774"/>
            <a:ext cx="8792275" cy="3554819"/>
          </a:xfrm>
          <a:prstGeom prst="rect">
            <a:avLst/>
          </a:prstGeom>
          <a:noFill/>
        </p:spPr>
        <p:txBody>
          <a:bodyPr wrap="square" rtlCol="0">
            <a:spAutoFit/>
          </a:bodyPr>
          <a:lstStyle/>
          <a:p>
            <a:pPr>
              <a:buNone/>
            </a:pPr>
            <a:r>
              <a:rPr lang="en-IN" sz="1500" dirty="0">
                <a:solidFill>
                  <a:schemeClr val="tx1">
                    <a:lumMod val="75000"/>
                    <a:lumOff val="25000"/>
                  </a:schemeClr>
                </a:solidFill>
              </a:rPr>
              <a:t>In this project, I </a:t>
            </a:r>
            <a:r>
              <a:rPr lang="en-IN" sz="1500" dirty="0" err="1">
                <a:solidFill>
                  <a:schemeClr val="tx1">
                    <a:lumMod val="75000"/>
                    <a:lumOff val="25000"/>
                  </a:schemeClr>
                </a:solidFill>
              </a:rPr>
              <a:t>analyze</a:t>
            </a:r>
            <a:r>
              <a:rPr lang="en-IN" sz="1500" dirty="0">
                <a:solidFill>
                  <a:schemeClr val="tx1">
                    <a:lumMod val="75000"/>
                    <a:lumOff val="25000"/>
                  </a:schemeClr>
                </a:solidFill>
              </a:rPr>
              <a:t> the seasonal performances of various agricultural activities from an extensive database containing 4,000+ farm records spread over 8 different types of crops (Rice, Wheat, Maize, Pulses, Cotton, Chilli, Groundnut &amp; Sugarcane), 3 distinct seasons (Kharif, Rabi &amp; Zaid) in various Indian states.</a:t>
            </a:r>
          </a:p>
          <a:p>
            <a:pPr>
              <a:buNone/>
            </a:pPr>
            <a:endParaRPr lang="en-IN" sz="1500" dirty="0">
              <a:solidFill>
                <a:schemeClr val="tx1">
                  <a:lumMod val="75000"/>
                  <a:lumOff val="25000"/>
                </a:schemeClr>
              </a:solidFill>
            </a:endParaRPr>
          </a:p>
          <a:p>
            <a:pPr>
              <a:buNone/>
            </a:pPr>
            <a:r>
              <a:rPr lang="en-IN" sz="1500" dirty="0">
                <a:solidFill>
                  <a:schemeClr val="tx1">
                    <a:lumMod val="75000"/>
                    <a:lumOff val="25000"/>
                  </a:schemeClr>
                </a:solidFill>
              </a:rPr>
              <a:t>I perform all sorts of data analyses on these data in Python by utilizing libraries such as pandas, </a:t>
            </a:r>
            <a:r>
              <a:rPr lang="en-IN" sz="1500" dirty="0" err="1">
                <a:solidFill>
                  <a:schemeClr val="tx1">
                    <a:lumMod val="75000"/>
                    <a:lumOff val="25000"/>
                  </a:schemeClr>
                </a:solidFill>
              </a:rPr>
              <a:t>numpy</a:t>
            </a:r>
            <a:r>
              <a:rPr lang="en-IN" sz="1500" dirty="0">
                <a:solidFill>
                  <a:schemeClr val="tx1">
                    <a:lumMod val="75000"/>
                    <a:lumOff val="25000"/>
                  </a:schemeClr>
                </a:solidFill>
              </a:rPr>
              <a:t>, matplotlib, seaborn &amp; </a:t>
            </a:r>
            <a:r>
              <a:rPr lang="en-IN" sz="1500" dirty="0" err="1">
                <a:solidFill>
                  <a:schemeClr val="tx1">
                    <a:lumMod val="75000"/>
                    <a:lumOff val="25000"/>
                  </a:schemeClr>
                </a:solidFill>
              </a:rPr>
              <a:t>scipy</a:t>
            </a:r>
            <a:r>
              <a:rPr lang="en-IN" sz="1500" dirty="0">
                <a:solidFill>
                  <a:schemeClr val="tx1">
                    <a:lumMod val="75000"/>
                    <a:lumOff val="25000"/>
                  </a:schemeClr>
                </a:solidFill>
              </a:rPr>
              <a:t> within the environment provided by a Jupyter Notebook.</a:t>
            </a:r>
          </a:p>
          <a:p>
            <a:pPr>
              <a:buNone/>
            </a:pPr>
            <a:endParaRPr lang="en-IN" sz="1500" dirty="0">
              <a:solidFill>
                <a:schemeClr val="tx1">
                  <a:lumMod val="75000"/>
                  <a:lumOff val="25000"/>
                </a:schemeClr>
              </a:solidFill>
            </a:endParaRPr>
          </a:p>
          <a:p>
            <a:pPr>
              <a:buNone/>
            </a:pPr>
            <a:r>
              <a:rPr lang="en-IN" sz="1500" dirty="0">
                <a:solidFill>
                  <a:schemeClr val="tx1">
                    <a:lumMod val="75000"/>
                    <a:lumOff val="25000"/>
                  </a:schemeClr>
                </a:solidFill>
              </a:rPr>
              <a:t>I first clean my datasets (missing values related to rainfall, soil-moisture &amp; yields are handled via Median Imputations), then validate several crucial financial formulas including production, revenue, profit &amp; water-efficiency. Lastly, I explore some important parameters like yield, profits &amp; water efficiency between different seasons, crops &amp; states, and use relevant statistical tools such as Kruskal-Wallis Test, Mann-Whitney U Test (with </a:t>
            </a:r>
            <a:r>
              <a:rPr lang="en-IN" sz="1500" dirty="0" err="1">
                <a:solidFill>
                  <a:schemeClr val="tx1">
                    <a:lumMod val="75000"/>
                    <a:lumOff val="25000"/>
                  </a:schemeClr>
                </a:solidFill>
              </a:rPr>
              <a:t>Bonferonni</a:t>
            </a:r>
            <a:r>
              <a:rPr lang="en-IN" sz="1500" dirty="0">
                <a:solidFill>
                  <a:schemeClr val="tx1">
                    <a:lumMod val="75000"/>
                    <a:lumOff val="25000"/>
                  </a:schemeClr>
                </a:solidFill>
              </a:rPr>
              <a:t> Correction) &amp; Spearman Correlation to validate their significance. Finally, I summarize up my findings and provide actionable insights in form of recommendations regarding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1861192"/>
            <a:ext cx="9065168" cy="4306803"/>
          </a:xfrm>
        </p:spPr>
        <p:txBody>
          <a:bodyPr>
            <a:noAutofit/>
          </a:bodyPr>
          <a:lstStyle/>
          <a:p>
            <a:r>
              <a:rPr lang="en-IN" sz="1600" b="1" dirty="0"/>
              <a:t>Farmers</a:t>
            </a:r>
            <a:r>
              <a:rPr lang="en-IN" sz="1600" dirty="0"/>
              <a:t> </a:t>
            </a:r>
          </a:p>
          <a:p>
            <a:pPr marL="0" indent="0">
              <a:buNone/>
            </a:pPr>
            <a:r>
              <a:rPr lang="en-IN" sz="1600" dirty="0"/>
              <a:t> They will benefit from this information, aiding them in choosing their crops and irrigation techniques during a particular season.</a:t>
            </a:r>
          </a:p>
          <a:p>
            <a:r>
              <a:rPr lang="en-IN" sz="1600" dirty="0"/>
              <a:t> </a:t>
            </a:r>
            <a:r>
              <a:rPr lang="en-IN" sz="1600" b="1" dirty="0"/>
              <a:t>Agricultural planners/policymakers </a:t>
            </a:r>
          </a:p>
          <a:p>
            <a:pPr marL="0" indent="0">
              <a:buNone/>
            </a:pPr>
            <a:r>
              <a:rPr lang="en-IN" sz="1600" dirty="0"/>
              <a:t>Use to determine which seasons/regions need further attention</a:t>
            </a:r>
          </a:p>
          <a:p>
            <a:r>
              <a:rPr lang="en-IN" sz="1600" b="1" dirty="0"/>
              <a:t>Agribusiness and Agri-Finance Companies </a:t>
            </a:r>
          </a:p>
          <a:p>
            <a:pPr marL="0" indent="0">
              <a:buNone/>
            </a:pPr>
            <a:r>
              <a:rPr lang="en-IN" sz="1600" dirty="0"/>
              <a:t>Use to evaluate Seasonal Risk Before Lending/Investment.</a:t>
            </a:r>
          </a:p>
          <a:p>
            <a:r>
              <a:rPr lang="en-IN" sz="1600" b="1" dirty="0"/>
              <a:t>Students and Researchers</a:t>
            </a:r>
          </a:p>
          <a:p>
            <a:pPr marL="0" indent="0">
              <a:buNone/>
            </a:pPr>
            <a:r>
              <a:rPr lang="en-IN" sz="1600" dirty="0"/>
              <a:t> Who want a reference on the Analysis of Seasonal Agricultural Data.</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620008" y="6480767"/>
            <a:ext cx="2181225" cy="298579"/>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71600" y="1432560"/>
            <a:ext cx="8046720" cy="4492379"/>
          </a:xfrm>
        </p:spPr>
        <p:txBody>
          <a:bodyPr/>
          <a:lstStyle/>
          <a:p>
            <a:r>
              <a:rPr lang="en-IN" sz="1500" dirty="0"/>
              <a:t>Language: Python</a:t>
            </a:r>
          </a:p>
          <a:p>
            <a:r>
              <a:rPr lang="en-IN" sz="1500" dirty="0"/>
              <a:t>Libraries: pandas, </a:t>
            </a:r>
            <a:r>
              <a:rPr lang="en-IN" sz="1500" dirty="0" err="1"/>
              <a:t>numpy</a:t>
            </a:r>
            <a:r>
              <a:rPr lang="en-IN" sz="1500" dirty="0"/>
              <a:t>, matplotlib, seaborn, </a:t>
            </a:r>
            <a:r>
              <a:rPr lang="en-IN" sz="1500" dirty="0" err="1"/>
              <a:t>scipy</a:t>
            </a:r>
            <a:endParaRPr lang="en-IN" sz="1500" dirty="0"/>
          </a:p>
          <a:p>
            <a:r>
              <a:rPr lang="en-IN" sz="1500" dirty="0"/>
              <a:t>Environment: Jupyter Notebook (VS Code)</a:t>
            </a:r>
          </a:p>
          <a:p>
            <a:r>
              <a:rPr lang="en-IN" sz="1500" dirty="0"/>
              <a:t>Statistical methods: Kruskal-Wallis test, Mann-Whitney U test (Bonferroni correction), Spearman correlation</a:t>
            </a:r>
          </a:p>
          <a:p>
            <a:r>
              <a:rPr lang="en-IN" sz="1500" dirty="0"/>
              <a:t>Version Control: GitHub</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424219" y="120009"/>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5109762" y="4301673"/>
            <a:ext cx="4217118" cy="666077"/>
          </a:xfrm>
        </p:spPr>
        <p:txBody>
          <a:bodyPr vert="horz" lIns="91440" tIns="45720" rIns="91440" bIns="45720" rtlCol="0" anchor="t">
            <a:noAutofit/>
          </a:bodyPr>
          <a:lstStyle/>
          <a:p>
            <a:pPr>
              <a:spcBef>
                <a:spcPts val="1800"/>
              </a:spcBef>
              <a:spcAft>
                <a:spcPts val="1200"/>
              </a:spcAft>
            </a:pPr>
            <a:r>
              <a:rPr lang="en-IN" sz="1600" dirty="0"/>
              <a:t>It has 4,000 rows and 28 columns. No duplicate row was found. Three of the columns contain missing data points for Rainfall(48), Soil Moisture(40), and Yield(32). These missing data points have been addressed by filling them with their corresponding column medians.</a:t>
            </a:r>
          </a:p>
          <a:p>
            <a:pPr marL="0" indent="0">
              <a:buNone/>
            </a:pPr>
            <a:endParaRPr lang="en-IN" sz="1800" dirty="0"/>
          </a:p>
        </p:txBody>
      </p:sp>
      <p:pic>
        <p:nvPicPr>
          <p:cNvPr id="9" name="Picture 8">
            <a:extLst>
              <a:ext uri="{FF2B5EF4-FFF2-40B4-BE49-F238E27FC236}">
                <a16:creationId xmlns:a16="http://schemas.microsoft.com/office/drawing/2014/main" id="{0C281E8E-392B-8563-6D82-83CA435DA4D9}"/>
              </a:ext>
            </a:extLst>
          </p:cNvPr>
          <p:cNvPicPr>
            <a:picLocks noChangeAspect="1"/>
          </p:cNvPicPr>
          <p:nvPr/>
        </p:nvPicPr>
        <p:blipFill>
          <a:blip r:embed="rId3"/>
          <a:stretch>
            <a:fillRect/>
          </a:stretch>
        </p:blipFill>
        <p:spPr>
          <a:xfrm>
            <a:off x="701039" y="4316217"/>
            <a:ext cx="4408723" cy="2109390"/>
          </a:xfrm>
          <a:prstGeom prst="rect">
            <a:avLst/>
          </a:prstGeom>
        </p:spPr>
      </p:pic>
      <p:pic>
        <p:nvPicPr>
          <p:cNvPr id="12" name="Picture 11">
            <a:extLst>
              <a:ext uri="{FF2B5EF4-FFF2-40B4-BE49-F238E27FC236}">
                <a16:creationId xmlns:a16="http://schemas.microsoft.com/office/drawing/2014/main" id="{04CEACD4-B7DF-DEA5-4CFF-4C4788E6F0E8}"/>
              </a:ext>
            </a:extLst>
          </p:cNvPr>
          <p:cNvPicPr>
            <a:picLocks noChangeAspect="1"/>
          </p:cNvPicPr>
          <p:nvPr/>
        </p:nvPicPr>
        <p:blipFill>
          <a:blip r:embed="rId4"/>
          <a:stretch>
            <a:fillRect/>
          </a:stretch>
        </p:blipFill>
        <p:spPr>
          <a:xfrm>
            <a:off x="675957" y="1458004"/>
            <a:ext cx="5720079" cy="267165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750919" y="4158823"/>
            <a:ext cx="3594775" cy="1839848"/>
          </a:xfrm>
        </p:spPr>
        <p:txBody>
          <a:bodyPr>
            <a:normAutofit/>
          </a:bodyPr>
          <a:lstStyle/>
          <a:p>
            <a:r>
              <a:rPr lang="en-IN" sz="1600" dirty="0"/>
              <a:t>Kharif shows the highest yield and profit across most crops and the strongest revenue-to-cost ratio, while Zaid consistently underperforms across all three metrics.</a:t>
            </a:r>
          </a:p>
        </p:txBody>
      </p:sp>
      <p:pic>
        <p:nvPicPr>
          <p:cNvPr id="3" name="Picture 2">
            <a:extLst>
              <a:ext uri="{FF2B5EF4-FFF2-40B4-BE49-F238E27FC236}">
                <a16:creationId xmlns:a16="http://schemas.microsoft.com/office/drawing/2014/main" id="{C6A13485-A2B6-A23E-05F4-6FDA4909B62E}"/>
              </a:ext>
            </a:extLst>
          </p:cNvPr>
          <p:cNvPicPr>
            <a:picLocks noChangeAspect="1"/>
          </p:cNvPicPr>
          <p:nvPr/>
        </p:nvPicPr>
        <p:blipFill>
          <a:blip r:embed="rId3"/>
          <a:srcRect l="1949" t="7937" r="6061" b="5070"/>
          <a:stretch>
            <a:fillRect/>
          </a:stretch>
        </p:blipFill>
        <p:spPr>
          <a:xfrm>
            <a:off x="2473344" y="1311028"/>
            <a:ext cx="2981643" cy="2207340"/>
          </a:xfrm>
          <a:prstGeom prst="rect">
            <a:avLst/>
          </a:prstGeom>
        </p:spPr>
      </p:pic>
      <p:pic>
        <p:nvPicPr>
          <p:cNvPr id="9" name="Picture 8">
            <a:extLst>
              <a:ext uri="{FF2B5EF4-FFF2-40B4-BE49-F238E27FC236}">
                <a16:creationId xmlns:a16="http://schemas.microsoft.com/office/drawing/2014/main" id="{6BF0F20F-6C58-5612-4012-C489F92C553D}"/>
              </a:ext>
            </a:extLst>
          </p:cNvPr>
          <p:cNvPicPr>
            <a:picLocks noChangeAspect="1"/>
          </p:cNvPicPr>
          <p:nvPr/>
        </p:nvPicPr>
        <p:blipFill>
          <a:blip r:embed="rId4"/>
          <a:stretch>
            <a:fillRect/>
          </a:stretch>
        </p:blipFill>
        <p:spPr>
          <a:xfrm>
            <a:off x="5712082" y="1275371"/>
            <a:ext cx="3739230" cy="2230684"/>
          </a:xfrm>
          <a:prstGeom prst="rect">
            <a:avLst/>
          </a:prstGeom>
        </p:spPr>
      </p:pic>
      <p:pic>
        <p:nvPicPr>
          <p:cNvPr id="12" name="Picture 11">
            <a:extLst>
              <a:ext uri="{FF2B5EF4-FFF2-40B4-BE49-F238E27FC236}">
                <a16:creationId xmlns:a16="http://schemas.microsoft.com/office/drawing/2014/main" id="{7273BBFF-5822-01E0-E50E-77EC736B908D}"/>
              </a:ext>
            </a:extLst>
          </p:cNvPr>
          <p:cNvPicPr>
            <a:picLocks noChangeAspect="1"/>
          </p:cNvPicPr>
          <p:nvPr/>
        </p:nvPicPr>
        <p:blipFill>
          <a:blip r:embed="rId5"/>
          <a:stretch>
            <a:fillRect/>
          </a:stretch>
        </p:blipFill>
        <p:spPr>
          <a:xfrm>
            <a:off x="4628010" y="3640048"/>
            <a:ext cx="4823302" cy="287739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4149850" y="4237099"/>
            <a:ext cx="5674870" cy="1284890"/>
          </a:xfrm>
        </p:spPr>
        <p:txBody>
          <a:bodyPr>
            <a:noAutofit/>
          </a:bodyPr>
          <a:lstStyle/>
          <a:p>
            <a:r>
              <a:rPr lang="en-IN" sz="1600" dirty="0"/>
              <a:t>Water efficiency was highest in Kharif (5.89 tonnes per 1,000 m³) and lowest in Zaid (4.41 tonnes per 1,000 m³), even though Zaid used a comparable amount of water on average. This shows Kharif converts water into production more effectively than the other seasons.</a:t>
            </a:r>
          </a:p>
        </p:txBody>
      </p:sp>
      <p:pic>
        <p:nvPicPr>
          <p:cNvPr id="3" name="Picture 2">
            <a:extLst>
              <a:ext uri="{FF2B5EF4-FFF2-40B4-BE49-F238E27FC236}">
                <a16:creationId xmlns:a16="http://schemas.microsoft.com/office/drawing/2014/main" id="{79E830DA-A7A7-9099-23C7-7C5B19BA4497}"/>
              </a:ext>
            </a:extLst>
          </p:cNvPr>
          <p:cNvPicPr>
            <a:picLocks noChangeAspect="1"/>
          </p:cNvPicPr>
          <p:nvPr/>
        </p:nvPicPr>
        <p:blipFill>
          <a:blip r:embed="rId3"/>
          <a:stretch>
            <a:fillRect/>
          </a:stretch>
        </p:blipFill>
        <p:spPr>
          <a:xfrm>
            <a:off x="679504" y="1424566"/>
            <a:ext cx="3111824" cy="3016302"/>
          </a:xfrm>
          <a:prstGeom prst="rect">
            <a:avLst/>
          </a:prstGeom>
        </p:spPr>
      </p:pic>
      <p:pic>
        <p:nvPicPr>
          <p:cNvPr id="9" name="Picture 8">
            <a:extLst>
              <a:ext uri="{FF2B5EF4-FFF2-40B4-BE49-F238E27FC236}">
                <a16:creationId xmlns:a16="http://schemas.microsoft.com/office/drawing/2014/main" id="{6CC5BDC4-4E5D-0A63-6180-9A423F47F85E}"/>
              </a:ext>
            </a:extLst>
          </p:cNvPr>
          <p:cNvPicPr>
            <a:picLocks noChangeAspect="1"/>
          </p:cNvPicPr>
          <p:nvPr/>
        </p:nvPicPr>
        <p:blipFill>
          <a:blip r:embed="rId4"/>
          <a:stretch>
            <a:fillRect/>
          </a:stretch>
        </p:blipFill>
        <p:spPr>
          <a:xfrm>
            <a:off x="675957" y="4676803"/>
            <a:ext cx="3111824" cy="1608655"/>
          </a:xfrm>
          <a:prstGeom prst="rect">
            <a:avLst/>
          </a:prstGeom>
        </p:spPr>
      </p:pic>
      <p:pic>
        <p:nvPicPr>
          <p:cNvPr id="12" name="Picture 11">
            <a:extLst>
              <a:ext uri="{FF2B5EF4-FFF2-40B4-BE49-F238E27FC236}">
                <a16:creationId xmlns:a16="http://schemas.microsoft.com/office/drawing/2014/main" id="{54E87C45-4C52-488F-C3C2-B03148C26433}"/>
              </a:ext>
            </a:extLst>
          </p:cNvPr>
          <p:cNvPicPr>
            <a:picLocks noChangeAspect="1"/>
          </p:cNvPicPr>
          <p:nvPr/>
        </p:nvPicPr>
        <p:blipFill>
          <a:blip r:embed="rId5"/>
          <a:stretch>
            <a:fillRect/>
          </a:stretch>
        </p:blipFill>
        <p:spPr>
          <a:xfrm>
            <a:off x="4023065" y="1282611"/>
            <a:ext cx="4763358" cy="2954488"/>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75957" y="1637044"/>
            <a:ext cx="3578185" cy="1829777"/>
          </a:xfrm>
        </p:spPr>
        <p:txBody>
          <a:bodyPr>
            <a:normAutofit/>
          </a:bodyPr>
          <a:lstStyle/>
          <a:p>
            <a:r>
              <a:rPr lang="en-IN" sz="1600" dirty="0"/>
              <a:t>The differences in yield, profit and water use between seasons were found to be actual differences and not by chance. Tests were carried out using the three seasons (p &lt; 0.001).</a:t>
            </a:r>
          </a:p>
        </p:txBody>
      </p:sp>
      <p:pic>
        <p:nvPicPr>
          <p:cNvPr id="3" name="Picture 2">
            <a:extLst>
              <a:ext uri="{FF2B5EF4-FFF2-40B4-BE49-F238E27FC236}">
                <a16:creationId xmlns:a16="http://schemas.microsoft.com/office/drawing/2014/main" id="{FF6A003B-FB6C-1FD8-46F7-EF878CFE305A}"/>
              </a:ext>
            </a:extLst>
          </p:cNvPr>
          <p:cNvPicPr>
            <a:picLocks noChangeAspect="1"/>
          </p:cNvPicPr>
          <p:nvPr/>
        </p:nvPicPr>
        <p:blipFill>
          <a:blip r:embed="rId3"/>
          <a:stretch>
            <a:fillRect/>
          </a:stretch>
        </p:blipFill>
        <p:spPr>
          <a:xfrm>
            <a:off x="4275495" y="1599223"/>
            <a:ext cx="4795520" cy="3634735"/>
          </a:xfrm>
          <a:prstGeom prst="rect">
            <a:avLst/>
          </a:prstGeom>
        </p:spPr>
      </p:pic>
      <p:pic>
        <p:nvPicPr>
          <p:cNvPr id="12" name="Picture 11">
            <a:extLst>
              <a:ext uri="{FF2B5EF4-FFF2-40B4-BE49-F238E27FC236}">
                <a16:creationId xmlns:a16="http://schemas.microsoft.com/office/drawing/2014/main" id="{4385A0C5-F500-E8F6-A6B4-D17C8C5C42A3}"/>
              </a:ext>
            </a:extLst>
          </p:cNvPr>
          <p:cNvPicPr>
            <a:picLocks noChangeAspect="1"/>
          </p:cNvPicPr>
          <p:nvPr/>
        </p:nvPicPr>
        <p:blipFill>
          <a:blip r:embed="rId4"/>
          <a:stretch>
            <a:fillRect/>
          </a:stretch>
        </p:blipFill>
        <p:spPr>
          <a:xfrm>
            <a:off x="4806398" y="5286271"/>
            <a:ext cx="3733714" cy="123069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75957" y="1422855"/>
            <a:ext cx="5582603" cy="1037187"/>
          </a:xfrm>
        </p:spPr>
        <p:txBody>
          <a:bodyPr>
            <a:noAutofit/>
          </a:bodyPr>
          <a:lstStyle/>
          <a:p>
            <a:r>
              <a:rPr lang="en-IN" sz="1600" dirty="0"/>
              <a:t>Disease/pest risk showed a very weak relationship with profit (correlation ≈ 0.10) — meaning the two are only loosely connected, even though the result is statistically significant.</a:t>
            </a:r>
          </a:p>
        </p:txBody>
      </p:sp>
      <p:pic>
        <p:nvPicPr>
          <p:cNvPr id="12" name="Picture 11">
            <a:extLst>
              <a:ext uri="{FF2B5EF4-FFF2-40B4-BE49-F238E27FC236}">
                <a16:creationId xmlns:a16="http://schemas.microsoft.com/office/drawing/2014/main" id="{4275DC3F-A5EE-BD8B-A96A-E710A7264167}"/>
              </a:ext>
            </a:extLst>
          </p:cNvPr>
          <p:cNvPicPr>
            <a:picLocks noChangeAspect="1"/>
          </p:cNvPicPr>
          <p:nvPr/>
        </p:nvPicPr>
        <p:blipFill>
          <a:blip r:embed="rId3"/>
          <a:stretch>
            <a:fillRect/>
          </a:stretch>
        </p:blipFill>
        <p:spPr>
          <a:xfrm>
            <a:off x="2979308" y="2708267"/>
            <a:ext cx="6233383" cy="350804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EF04291-7F27-349C-FC0C-EACCBC38811B}"/>
              </a:ext>
            </a:extLst>
          </p:cNvPr>
          <p:cNvSpPr txBox="1"/>
          <p:nvPr/>
        </p:nvSpPr>
        <p:spPr>
          <a:xfrm>
            <a:off x="675957" y="1275371"/>
            <a:ext cx="5907723" cy="3001784"/>
          </a:xfrm>
          <a:prstGeom prst="rect">
            <a:avLst/>
          </a:prstGeom>
          <a:noFill/>
        </p:spPr>
        <p:txBody>
          <a:bodyPr wrap="square" rtlCol="0">
            <a:spAutoFit/>
          </a:bodyPr>
          <a:lstStyle/>
          <a:p>
            <a:pPr marL="285750" marR="0" indent="-285750" algn="l">
              <a:lnSpc>
                <a:spcPct val="150000"/>
              </a:lnSpc>
              <a:buFont typeface="Wingdings" panose="05000000000000000000" pitchFamily="2" charset="2"/>
              <a:buChar char="§"/>
            </a:pPr>
            <a:r>
              <a:rPr lang="en-IN" sz="1600" b="0" i="0" dirty="0">
                <a:solidFill>
                  <a:schemeClr val="tx1">
                    <a:lumMod val="75000"/>
                    <a:lumOff val="25000"/>
                  </a:schemeClr>
                </a:solidFill>
                <a:effectLst/>
              </a:rPr>
              <a:t>Use more recent multi-year data for studying year over year trends by seasons.</a:t>
            </a:r>
          </a:p>
          <a:p>
            <a:pPr marL="285750" marR="0" indent="-285750" algn="l">
              <a:lnSpc>
                <a:spcPct val="150000"/>
              </a:lnSpc>
              <a:buFont typeface="Wingdings" panose="05000000000000000000" pitchFamily="2" charset="2"/>
              <a:buChar char="§"/>
            </a:pPr>
            <a:r>
              <a:rPr lang="en-IN" sz="1600" b="0" i="0" dirty="0">
                <a:solidFill>
                  <a:schemeClr val="tx1">
                    <a:lumMod val="75000"/>
                    <a:lumOff val="25000"/>
                  </a:schemeClr>
                </a:solidFill>
                <a:effectLst/>
              </a:rPr>
              <a:t>Create a predictive model (regression etc.) that will allow you to predict profit/yield given some parameters of season/crop/environment.</a:t>
            </a:r>
          </a:p>
          <a:p>
            <a:pPr marL="285750" marR="0" indent="-285750" algn="l">
              <a:lnSpc>
                <a:spcPct val="150000"/>
              </a:lnSpc>
              <a:buFont typeface="Wingdings" panose="05000000000000000000" pitchFamily="2" charset="2"/>
              <a:buChar char="§"/>
            </a:pPr>
            <a:r>
              <a:rPr lang="en-IN" sz="1600" b="0" i="0" dirty="0">
                <a:solidFill>
                  <a:schemeClr val="tx1">
                    <a:lumMod val="75000"/>
                    <a:lumOff val="25000"/>
                  </a:schemeClr>
                </a:solidFill>
                <a:effectLst/>
              </a:rPr>
              <a:t>Add some weather forecast data into the mix.</a:t>
            </a:r>
          </a:p>
          <a:p>
            <a:pPr marL="285750" marR="0" indent="-285750" algn="l">
              <a:lnSpc>
                <a:spcPct val="150000"/>
              </a:lnSpc>
              <a:buFont typeface="Wingdings" panose="05000000000000000000" pitchFamily="2" charset="2"/>
              <a:buChar char="§"/>
            </a:pPr>
            <a:r>
              <a:rPr lang="en-IN" sz="1600" b="0" i="0" dirty="0">
                <a:solidFill>
                  <a:schemeClr val="tx1">
                    <a:lumMod val="75000"/>
                    <a:lumOff val="25000"/>
                  </a:schemeClr>
                </a:solidFill>
                <a:effectLst/>
              </a:rPr>
              <a:t>Make an easy to use, interactive dashboard where you can filter out by season/crop/state etc. for farmer/planners.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DBC2D281-8A97-8269-B7D2-9864A6BED2B4}"/>
              </a:ext>
            </a:extLst>
          </p:cNvPr>
          <p:cNvSpPr txBox="1"/>
          <p:nvPr/>
        </p:nvSpPr>
        <p:spPr>
          <a:xfrm>
            <a:off x="670559" y="1201586"/>
            <a:ext cx="10099040" cy="369332"/>
          </a:xfrm>
          <a:prstGeom prst="rect">
            <a:avLst/>
          </a:prstGeom>
          <a:noFill/>
        </p:spPr>
        <p:txBody>
          <a:bodyPr wrap="square" rtlCol="0">
            <a:spAutoFit/>
          </a:bodyPr>
          <a:lstStyle/>
          <a:p>
            <a:r>
              <a:rPr lang="en-IN"/>
              <a:t>https://github.com/Aparna-manoj/Seasonal_Agriculture_Performance_Analysis</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153CD9E-4490-7EF9-EE14-2EF87C7B954E}"/>
              </a:ext>
            </a:extLst>
          </p:cNvPr>
          <p:cNvPicPr>
            <a:picLocks noChangeAspect="1"/>
          </p:cNvPicPr>
          <p:nvPr/>
        </p:nvPicPr>
        <p:blipFill>
          <a:blip r:embed="rId3"/>
          <a:stretch>
            <a:fillRect/>
          </a:stretch>
        </p:blipFill>
        <p:spPr>
          <a:xfrm>
            <a:off x="1491070" y="1608410"/>
            <a:ext cx="6721161" cy="475045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r>
              <a:rPr lang="en-IN" dirty="0"/>
              <a:t>APARNA MANOJ</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917</TotalTime>
  <Words>750</Words>
  <Application>Microsoft Office PowerPoint</Application>
  <PresentationFormat>Widescreen</PresentationFormat>
  <Paragraphs>52</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aparna manoj</cp:lastModifiedBy>
  <cp:revision>98</cp:revision>
  <dcterms:created xsi:type="dcterms:W3CDTF">2021-07-11T13:13:15Z</dcterms:created>
  <dcterms:modified xsi:type="dcterms:W3CDTF">2026-09-05T17:33:02Z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